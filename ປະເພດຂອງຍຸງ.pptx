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88" r:id="rId7"/>
    <p:sldId id="270" r:id="rId8"/>
    <p:sldId id="286" r:id="rId9"/>
    <p:sldId id="287" r:id="rId10"/>
    <p:sldId id="272" r:id="rId11"/>
    <p:sldId id="273" r:id="rId12"/>
    <p:sldId id="274" r:id="rId13"/>
    <p:sldId id="263" r:id="rId14"/>
    <p:sldId id="275" r:id="rId15"/>
    <p:sldId id="276" r:id="rId16"/>
    <p:sldId id="277" r:id="rId17"/>
    <p:sldId id="265" r:id="rId18"/>
    <p:sldId id="282" r:id="rId19"/>
    <p:sldId id="278" r:id="rId20"/>
    <p:sldId id="279" r:id="rId21"/>
    <p:sldId id="280" r:id="rId22"/>
    <p:sldId id="283" r:id="rId23"/>
    <p:sldId id="284" r:id="rId24"/>
    <p:sldId id="285" r:id="rId25"/>
    <p:sldId id="267" r:id="rId26"/>
    <p:sldId id="268" r:id="rId27"/>
    <p:sldId id="289" r:id="rId28"/>
    <p:sldId id="29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ebastienmarcombe@gmail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SIMPLE Project – VR Scientific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Scientific Advisor: Sébastien </a:t>
            </a:r>
            <a:r>
              <a:rPr dirty="0" smtClean="0"/>
              <a:t>Marcombe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sebastienmarcombe@gmail.com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dirty="0" smtClean="0"/>
              <a:t>Context</a:t>
            </a:r>
            <a:r>
              <a:rPr dirty="0"/>
              <a:t>: Laos / Southeast Asia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Ensure VR content is:</a:t>
            </a:r>
          </a:p>
          <a:p>
            <a:pPr marL="0" indent="0">
              <a:buNone/>
            </a:pPr>
            <a:r>
              <a:rPr dirty="0"/>
              <a:t>- Scientifically accurate</a:t>
            </a:r>
          </a:p>
          <a:p>
            <a:pPr marL="0" indent="0">
              <a:buNone/>
            </a:pPr>
            <a:r>
              <a:rPr dirty="0"/>
              <a:t>- Locally relevant</a:t>
            </a:r>
          </a:p>
          <a:p>
            <a:pPr marL="0" indent="0">
              <a:buNone/>
            </a:pPr>
            <a:r>
              <a:rPr dirty="0"/>
              <a:t>- Visually realistic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Species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 dirty="0"/>
              <a:t>Aedes aegypti</a:t>
            </a:r>
          </a:p>
          <a:p>
            <a:r>
              <a:rPr i="1" dirty="0"/>
              <a:t>Aedes albopictus</a:t>
            </a:r>
          </a:p>
          <a:p>
            <a:endParaRPr dirty="0"/>
          </a:p>
          <a:p>
            <a:r>
              <a:rPr dirty="0"/>
              <a:t>Day-biting, urban mosquitoes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Aedes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Egg → Larva → Pupa → Adult </a:t>
            </a:r>
            <a:r>
              <a:rPr dirty="0" smtClean="0"/>
              <a:t>(</a:t>
            </a:r>
            <a:r>
              <a:rPr lang="en-US" dirty="0" smtClean="0"/>
              <a:t>7</a:t>
            </a:r>
            <a:r>
              <a:rPr dirty="0" smtClean="0"/>
              <a:t>–10 </a:t>
            </a:r>
            <a:r>
              <a:rPr dirty="0"/>
              <a:t>days)</a:t>
            </a:r>
          </a:p>
          <a:p>
            <a:r>
              <a:rPr lang="en-US" b="1" dirty="0"/>
              <a:t>Critical visual elements for VR</a:t>
            </a:r>
            <a:endParaRPr lang="en-US" sz="1800" dirty="0"/>
          </a:p>
          <a:p>
            <a:pPr lvl="1"/>
            <a:r>
              <a:rPr lang="en-US" dirty="0"/>
              <a:t>Eggs laid </a:t>
            </a:r>
            <a:r>
              <a:rPr lang="en-US" b="1" dirty="0"/>
              <a:t>just above water line</a:t>
            </a:r>
            <a:r>
              <a:rPr lang="en-US" dirty="0"/>
              <a:t> (not floating randomly) </a:t>
            </a:r>
            <a:endParaRPr lang="en-US" sz="2400" dirty="0"/>
          </a:p>
          <a:p>
            <a:pPr lvl="1"/>
            <a:r>
              <a:rPr lang="en-US" dirty="0"/>
              <a:t>Larvae: </a:t>
            </a:r>
            <a:endParaRPr lang="en-US" sz="2400" dirty="0"/>
          </a:p>
          <a:p>
            <a:pPr lvl="2"/>
            <a:r>
              <a:rPr lang="en-US" dirty="0"/>
              <a:t>Move with </a:t>
            </a:r>
            <a:r>
              <a:rPr lang="en-US" b="1" dirty="0"/>
              <a:t>wiggling motion</a:t>
            </a:r>
            <a:r>
              <a:rPr lang="en-US" dirty="0"/>
              <a:t> </a:t>
            </a:r>
            <a:endParaRPr lang="en-US" sz="2000" dirty="0"/>
          </a:p>
          <a:p>
            <a:pPr lvl="2"/>
            <a:r>
              <a:rPr lang="en-US" dirty="0"/>
              <a:t>Hang </a:t>
            </a:r>
            <a:r>
              <a:rPr lang="en-US" b="1" dirty="0"/>
              <a:t>at an angle from surface</a:t>
            </a:r>
            <a:r>
              <a:rPr lang="en-US" dirty="0"/>
              <a:t> </a:t>
            </a:r>
            <a:endParaRPr lang="en-US" sz="2000" dirty="0"/>
          </a:p>
          <a:p>
            <a:pPr lvl="1"/>
            <a:r>
              <a:rPr lang="en-US" dirty="0"/>
              <a:t>Pupae: </a:t>
            </a:r>
            <a:endParaRPr lang="en-US" sz="2400" dirty="0"/>
          </a:p>
          <a:p>
            <a:pPr lvl="2"/>
            <a:r>
              <a:rPr lang="en-US" b="1" dirty="0"/>
              <a:t>Comma-shaped</a:t>
            </a:r>
            <a:r>
              <a:rPr lang="en-US" dirty="0"/>
              <a:t> </a:t>
            </a:r>
            <a:endParaRPr lang="en-US" sz="2000" dirty="0"/>
          </a:p>
          <a:p>
            <a:pPr lvl="2"/>
            <a:r>
              <a:rPr lang="en-US" dirty="0"/>
              <a:t>Active, mobile (not static) </a:t>
            </a:r>
            <a:endParaRPr lang="en-US" sz="2000" dirty="0"/>
          </a:p>
          <a:p>
            <a:pPr lvl="1"/>
            <a:r>
              <a:rPr lang="en-US" dirty="0"/>
              <a:t>Adults emerging from water surface </a:t>
            </a:r>
            <a:endParaRPr lang="en-US" sz="2400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 cycle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113" y="1600200"/>
            <a:ext cx="804377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8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4638"/>
            <a:ext cx="3304007" cy="33187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35" y="3183170"/>
            <a:ext cx="4372590" cy="331288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7166461">
            <a:off x="4565960" y="2225297"/>
            <a:ext cx="1592825" cy="56043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Life Cycle of Aedes Mosquitoes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855" y="83820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82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Larvae &amp; pupae</a:t>
            </a:r>
            <a:endParaRPr lang="en-US" dirty="0"/>
          </a:p>
        </p:txBody>
      </p:sp>
      <p:pic>
        <p:nvPicPr>
          <p:cNvPr id="4" name="Content Placeholder 3" descr="https://www.researchgate.net/profile/Ary-Faraji/publication/258346062/figure/fig7/AS%3A297634964230150%401447973113865/Aedes-sierrensis-a-Dorsal-view-of-entire-4th-instar-b-Close-up-of-representative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14" y="1417638"/>
            <a:ext cx="4379786" cy="3193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530" y="3996813"/>
            <a:ext cx="4096053" cy="272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2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780" y="85368"/>
            <a:ext cx="4793225" cy="656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412358"/>
            <a:ext cx="5081379" cy="29355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219" y="3562056"/>
            <a:ext cx="4620476" cy="307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9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Aedes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Messages to communicate</a:t>
            </a:r>
            <a:endParaRPr lang="en-US" sz="2400" dirty="0"/>
          </a:p>
          <a:p>
            <a:pPr lvl="0"/>
            <a:r>
              <a:rPr lang="en-US" sz="2400" dirty="0"/>
              <a:t>“Small water = enough for mosquitoes” </a:t>
            </a:r>
          </a:p>
          <a:p>
            <a:pPr lvl="0"/>
            <a:r>
              <a:rPr lang="en-US" sz="2400" dirty="0"/>
              <a:t>“Life cycle is fast → frequent breeding” </a:t>
            </a:r>
            <a:r>
              <a:rPr lang="en-US" sz="2400" dirty="0" smtClean="0"/>
              <a:t>&lt;10 days</a:t>
            </a:r>
            <a:endParaRPr lang="en-US" sz="2400" dirty="0"/>
          </a:p>
          <a:p>
            <a:r>
              <a:rPr lang="en-US" sz="2400" b="1" dirty="0" smtClean="0"/>
              <a:t>⚠ </a:t>
            </a:r>
            <a:r>
              <a:rPr lang="en-US" sz="2400" b="1" dirty="0"/>
              <a:t>Common mistakes to avoid</a:t>
            </a:r>
            <a:endParaRPr lang="en-US" sz="2400" dirty="0"/>
          </a:p>
          <a:p>
            <a:pPr lvl="0"/>
            <a:r>
              <a:rPr lang="en-US" sz="2400" dirty="0">
                <a:solidFill>
                  <a:srgbClr val="FF0000"/>
                </a:solidFill>
              </a:rPr>
              <a:t>❌</a:t>
            </a:r>
            <a:r>
              <a:rPr lang="en-US" sz="2400" dirty="0"/>
              <a:t> Showing larvae at bottom only </a:t>
            </a:r>
          </a:p>
          <a:p>
            <a:pPr lvl="0"/>
            <a:r>
              <a:rPr lang="en-US" sz="2400" dirty="0">
                <a:solidFill>
                  <a:srgbClr val="FF0000"/>
                </a:solidFill>
              </a:rPr>
              <a:t>❌</a:t>
            </a:r>
            <a:r>
              <a:rPr lang="en-US" sz="2400" dirty="0"/>
              <a:t> Clean/clear water only (they prefer organic-rich water) </a:t>
            </a:r>
            <a:r>
              <a:rPr lang="en-US" sz="2400" dirty="0"/>
              <a:t>Show </a:t>
            </a:r>
            <a:r>
              <a:rPr lang="en-US" sz="2400" b="1" dirty="0"/>
              <a:t>small containers</a:t>
            </a:r>
            <a:r>
              <a:rPr lang="en-US" sz="2400" dirty="0"/>
              <a:t>, not ponds or rivers</a:t>
            </a:r>
            <a:endParaRPr lang="en-US" sz="2400" dirty="0"/>
          </a:p>
          <a:p>
            <a:pPr lvl="0"/>
            <a:r>
              <a:rPr lang="en-US" sz="2400" dirty="0">
                <a:solidFill>
                  <a:srgbClr val="FF0000"/>
                </a:solidFill>
              </a:rPr>
              <a:t>❌</a:t>
            </a:r>
            <a:r>
              <a:rPr lang="en-US" sz="2400" dirty="0"/>
              <a:t> Long life cycle (&gt;2 weeks unrealistic in tropics)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892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Adult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Key scientific facts</a:t>
            </a:r>
            <a:endParaRPr lang="en-US" sz="2000" dirty="0"/>
          </a:p>
          <a:p>
            <a:pPr lvl="1"/>
            <a:r>
              <a:rPr lang="en-US" sz="2000" b="1" dirty="0"/>
              <a:t>Day-biting mosquito</a:t>
            </a:r>
            <a:r>
              <a:rPr lang="en-US" sz="2000" dirty="0"/>
              <a:t> (peak: early morning &amp; late afternoon) </a:t>
            </a:r>
          </a:p>
          <a:p>
            <a:pPr lvl="1"/>
            <a:r>
              <a:rPr lang="en-US" sz="2000" dirty="0"/>
              <a:t>Prefer </a:t>
            </a:r>
            <a:r>
              <a:rPr lang="en-US" sz="2000" b="1" dirty="0"/>
              <a:t>humans</a:t>
            </a:r>
            <a:r>
              <a:rPr lang="en-US" sz="2000" dirty="0"/>
              <a:t> (anthropophilic) </a:t>
            </a:r>
          </a:p>
          <a:p>
            <a:pPr lvl="1"/>
            <a:r>
              <a:rPr lang="en-US" sz="2000" dirty="0"/>
              <a:t>Flight range: </a:t>
            </a:r>
            <a:r>
              <a:rPr lang="en-US" sz="2000" b="1" dirty="0"/>
              <a:t>short (~50–100 m)</a:t>
            </a:r>
            <a:r>
              <a:rPr lang="en-US" sz="2000" dirty="0"/>
              <a:t> </a:t>
            </a:r>
            <a:endParaRPr lang="en-US" sz="2000" dirty="0" smtClean="0"/>
          </a:p>
          <a:p>
            <a:pPr lvl="1"/>
            <a:r>
              <a:rPr lang="fr-FR" sz="2000" dirty="0" err="1"/>
              <a:t>Eggs</a:t>
            </a:r>
            <a:r>
              <a:rPr lang="fr-FR" sz="2000" dirty="0"/>
              <a:t> </a:t>
            </a:r>
            <a:r>
              <a:rPr lang="fr-FR" sz="2000" dirty="0" err="1"/>
              <a:t>resist</a:t>
            </a:r>
            <a:r>
              <a:rPr lang="fr-FR" sz="2000" dirty="0"/>
              <a:t> </a:t>
            </a:r>
            <a:r>
              <a:rPr lang="fr-FR" sz="2000" dirty="0" err="1"/>
              <a:t>desiccation</a:t>
            </a:r>
            <a:r>
              <a:rPr lang="fr-FR" sz="2000" dirty="0"/>
              <a:t> (important concept</a:t>
            </a:r>
            <a:r>
              <a:rPr lang="fr-FR" sz="2000" dirty="0" smtClean="0"/>
              <a:t>!)</a:t>
            </a:r>
          </a:p>
          <a:p>
            <a:pPr lvl="1"/>
            <a:endParaRPr lang="en-US" sz="2000" dirty="0" smtClean="0"/>
          </a:p>
          <a:p>
            <a:r>
              <a:rPr lang="en-US" sz="2000" b="1" dirty="0" smtClean="0"/>
              <a:t>Critical </a:t>
            </a:r>
            <a:r>
              <a:rPr lang="en-US" sz="2000" b="1" dirty="0"/>
              <a:t>visual elements</a:t>
            </a:r>
            <a:endParaRPr lang="en-US" sz="2000" dirty="0"/>
          </a:p>
          <a:p>
            <a:pPr lvl="0"/>
            <a:r>
              <a:rPr lang="en-US" sz="2000" dirty="0"/>
              <a:t>Biting: </a:t>
            </a:r>
          </a:p>
          <a:p>
            <a:pPr lvl="2"/>
            <a:r>
              <a:rPr lang="en-US" sz="2000" dirty="0"/>
              <a:t>Often </a:t>
            </a:r>
            <a:r>
              <a:rPr lang="en-US" sz="2000" b="1" dirty="0"/>
              <a:t>lower legs/ankles</a:t>
            </a:r>
            <a:r>
              <a:rPr lang="en-US" sz="2000" dirty="0"/>
              <a:t> </a:t>
            </a:r>
          </a:p>
          <a:p>
            <a:pPr lvl="2"/>
            <a:r>
              <a:rPr lang="en-US" sz="2000" dirty="0"/>
              <a:t>Indoor AND outdoor </a:t>
            </a:r>
          </a:p>
          <a:p>
            <a:pPr lvl="0"/>
            <a:r>
              <a:rPr lang="en-US" sz="2000" dirty="0"/>
              <a:t>Resting: </a:t>
            </a:r>
          </a:p>
          <a:p>
            <a:pPr lvl="2"/>
            <a:r>
              <a:rPr lang="en-US" sz="2000" dirty="0"/>
              <a:t>Dark places (under furniture, clothes, walls)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 smtClean="0"/>
              <a:t>Distinctive </a:t>
            </a:r>
            <a:r>
              <a:rPr lang="en-US" sz="2000" b="1" dirty="0" smtClean="0"/>
              <a:t>black + white stripes</a:t>
            </a:r>
            <a:r>
              <a:rPr lang="en-US" sz="2000" dirty="0" smtClean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254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Adult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Messages </a:t>
            </a:r>
            <a:r>
              <a:rPr lang="en-US" sz="2000" b="1" dirty="0"/>
              <a:t>to communicate</a:t>
            </a:r>
            <a:endParaRPr lang="en-US" sz="2000" dirty="0"/>
          </a:p>
          <a:p>
            <a:pPr lvl="1"/>
            <a:r>
              <a:rPr lang="en-US" sz="2000" dirty="0"/>
              <a:t>“You can be bitten during the day” </a:t>
            </a:r>
          </a:p>
          <a:p>
            <a:pPr lvl="1"/>
            <a:r>
              <a:rPr lang="en-US" sz="2000" dirty="0"/>
              <a:t>“Mosquitoes live close to you” 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⚠ </a:t>
            </a:r>
            <a:r>
              <a:rPr lang="en-US" sz="2000" b="1" dirty="0"/>
              <a:t>Mistakes to avoid</a:t>
            </a:r>
            <a:endParaRPr lang="en-US" sz="2000" dirty="0"/>
          </a:p>
          <a:p>
            <a:pPr lvl="1"/>
            <a:r>
              <a:rPr lang="en-US" sz="2000" dirty="0"/>
              <a:t>❌ Night biting (confusion with malaria vectors) </a:t>
            </a:r>
          </a:p>
          <a:p>
            <a:pPr lvl="1"/>
            <a:r>
              <a:rPr lang="en-US" sz="2000" dirty="0"/>
              <a:t>❌ Long-distance flight scenes </a:t>
            </a:r>
          </a:p>
          <a:p>
            <a:pPr lvl="1"/>
            <a:r>
              <a:rPr lang="en-US" sz="2000" dirty="0"/>
              <a:t>❌ Rural-only setting (Aedes is urban/peri-urban) </a:t>
            </a:r>
          </a:p>
        </p:txBody>
      </p:sp>
    </p:spTree>
    <p:extLst>
      <p:ext uri="{BB962C8B-B14F-4D97-AF65-F5344CB8AC3E}">
        <p14:creationId xmlns:p14="http://schemas.microsoft.com/office/powerpoint/2010/main" val="241305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Aedes </a:t>
            </a:r>
            <a:r>
              <a:rPr dirty="0" smtClean="0"/>
              <a:t>Breeding </a:t>
            </a:r>
            <a:r>
              <a:rPr dirty="0"/>
              <a:t>Sites (Laos)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Domestic</a:t>
            </a:r>
            <a:endParaRPr lang="en-US" dirty="0"/>
          </a:p>
          <a:p>
            <a:pPr lvl="0"/>
            <a:r>
              <a:rPr lang="en-US" dirty="0"/>
              <a:t>Water storage jars (big ceramic jars) </a:t>
            </a:r>
          </a:p>
          <a:p>
            <a:pPr lvl="0"/>
            <a:r>
              <a:rPr lang="en-US" dirty="0"/>
              <a:t>Buckets, tanks </a:t>
            </a:r>
          </a:p>
          <a:p>
            <a:pPr lvl="0"/>
            <a:r>
              <a:rPr lang="en-US" dirty="0"/>
              <a:t>Flower pots </a:t>
            </a:r>
          </a:p>
          <a:p>
            <a:r>
              <a:rPr lang="en-US" b="1" dirty="0"/>
              <a:t>Peri-domestic</a:t>
            </a:r>
            <a:endParaRPr lang="en-US" dirty="0"/>
          </a:p>
          <a:p>
            <a:pPr lvl="0"/>
            <a:r>
              <a:rPr lang="en-US" dirty="0"/>
              <a:t>Used tires </a:t>
            </a:r>
          </a:p>
          <a:p>
            <a:pPr lvl="0"/>
            <a:r>
              <a:rPr lang="en-US" dirty="0"/>
              <a:t>Plastic containers </a:t>
            </a:r>
          </a:p>
          <a:p>
            <a:pPr lvl="0"/>
            <a:r>
              <a:rPr lang="en-US" dirty="0"/>
              <a:t>Construction sites </a:t>
            </a:r>
          </a:p>
          <a:p>
            <a:r>
              <a:rPr lang="en-US" b="1" dirty="0"/>
              <a:t>Natural (secondary)</a:t>
            </a:r>
            <a:endParaRPr lang="en-US" dirty="0"/>
          </a:p>
          <a:p>
            <a:pPr lvl="0"/>
            <a:r>
              <a:rPr lang="en-US" dirty="0"/>
              <a:t>Tree holes </a:t>
            </a:r>
          </a:p>
          <a:p>
            <a:pPr lvl="0"/>
            <a:r>
              <a:rPr lang="en-US" dirty="0"/>
              <a:t>Bamboo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640080"/>
            <a:ext cx="5217658" cy="616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ttps://media.springernature.com/lw685/springer-static/image/art%3A10.1186%2Fs13071-021-04668-8/MediaObjects/13071_2021_4668_Figa_HTML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118" y="1600200"/>
            <a:ext cx="4897764" cy="4525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695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Breeding 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Critical visual elements</a:t>
            </a:r>
            <a:endParaRPr lang="en-US" b="1" dirty="0" smtClean="0"/>
          </a:p>
          <a:p>
            <a:pPr lvl="1"/>
            <a:r>
              <a:rPr lang="en-US" b="1" dirty="0" smtClean="0"/>
              <a:t>Small </a:t>
            </a:r>
            <a:r>
              <a:rPr lang="en-US" b="1" dirty="0"/>
              <a:t>water volumes</a:t>
            </a:r>
            <a:r>
              <a:rPr lang="en-US" dirty="0"/>
              <a:t> (not big ponds) </a:t>
            </a:r>
          </a:p>
          <a:p>
            <a:pPr lvl="1"/>
            <a:r>
              <a:rPr lang="en-US" dirty="0"/>
              <a:t>Often </a:t>
            </a:r>
            <a:r>
              <a:rPr lang="en-US" b="1" dirty="0"/>
              <a:t>clean-looking water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Containers </a:t>
            </a:r>
            <a:r>
              <a:rPr lang="en-US" b="1" dirty="0"/>
              <a:t>close to houses</a:t>
            </a:r>
            <a:r>
              <a:rPr lang="en-US" dirty="0"/>
              <a:t> </a:t>
            </a:r>
          </a:p>
          <a:p>
            <a:r>
              <a:rPr lang="en-US" b="1" dirty="0"/>
              <a:t>Messages to communicate</a:t>
            </a:r>
            <a:endParaRPr lang="en-US" dirty="0"/>
          </a:p>
          <a:p>
            <a:pPr lvl="1"/>
            <a:r>
              <a:rPr lang="en-US" dirty="0"/>
              <a:t>“Your house = main risk area” </a:t>
            </a:r>
          </a:p>
          <a:p>
            <a:pPr lvl="1"/>
            <a:r>
              <a:rPr lang="en-US" dirty="0"/>
              <a:t>“Even clean water can produce mosquitoes” </a:t>
            </a:r>
          </a:p>
          <a:p>
            <a:r>
              <a:rPr lang="en-US" b="1" dirty="0" smtClean="0"/>
              <a:t>⚠ </a:t>
            </a:r>
            <a:r>
              <a:rPr lang="en-US" b="1" dirty="0"/>
              <a:t>Mistakes to avoid</a:t>
            </a:r>
            <a:endParaRPr lang="en-US" dirty="0"/>
          </a:p>
          <a:p>
            <a:pPr lvl="1"/>
            <a:r>
              <a:rPr lang="en-US" dirty="0"/>
              <a:t>❌ Rice fields / large ponds (not Aedes) </a:t>
            </a:r>
          </a:p>
          <a:p>
            <a:pPr lvl="1"/>
            <a:r>
              <a:rPr lang="en-US" dirty="0"/>
              <a:t>❌ Dirty sewage focus only </a:t>
            </a:r>
          </a:p>
          <a:p>
            <a:pPr lvl="1"/>
            <a:r>
              <a:rPr lang="en-US" dirty="0"/>
              <a:t>❌ Unrealistic Western environments </a:t>
            </a:r>
          </a:p>
        </p:txBody>
      </p:sp>
    </p:spTree>
    <p:extLst>
      <p:ext uri="{BB962C8B-B14F-4D97-AF65-F5344CB8AC3E}">
        <p14:creationId xmlns:p14="http://schemas.microsoft.com/office/powerpoint/2010/main" val="298259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Human–Mosquito Interaction &amp; </a:t>
            </a:r>
            <a:r>
              <a:rPr lang="en-US" b="1" dirty="0" smtClean="0"/>
              <a:t>Transmission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→ Mosquito → Human</a:t>
            </a:r>
          </a:p>
          <a:p>
            <a:r>
              <a:t>Only females bite</a:t>
            </a:r>
          </a:p>
          <a:p>
            <a:r>
              <a:t>Virus develops ~7–10 days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ttps://www.researchgate.net/publication/377968612/figure/fig1/AS%3A11431281222136229%401707120014671/Dengue-transmission-cycle-When-a-susceptible-mosquito-bites-and-infected-human-the.ppm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83" y="1"/>
            <a:ext cx="5030497" cy="3456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949" y="2770728"/>
            <a:ext cx="5065647" cy="377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3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elements-resized.envatousercontent.com/elements-cover-images/cd0168de-304b-468f-8028-e57337464ef9?cf_fit=crop&amp;format=jpeg&amp;h=630&amp;q=85&amp;s=44a4d41b7e298524489b693511f767e48dfecdaadc3c4dede1aac2c394295714&amp;w=120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017" y="3456433"/>
            <a:ext cx="4809744" cy="3126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 descr="https://www.cdc.gov/dengue/media/images/2024/09/dengue-transmission-cyc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54" y="290609"/>
            <a:ext cx="4097325" cy="3165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94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Human–Mosquito Interaction &amp; Transmission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scientific facts</a:t>
            </a:r>
            <a:endParaRPr lang="en-US" sz="1800" dirty="0"/>
          </a:p>
          <a:p>
            <a:pPr lvl="0"/>
            <a:r>
              <a:rPr lang="en-US" dirty="0"/>
              <a:t>Transmission cycle: </a:t>
            </a:r>
            <a:endParaRPr lang="en-US" sz="2800" dirty="0"/>
          </a:p>
          <a:p>
            <a:pPr lvl="1"/>
            <a:r>
              <a:rPr lang="en-US" dirty="0"/>
              <a:t>Mosquito bites infected human </a:t>
            </a:r>
            <a:endParaRPr lang="en-US" sz="2400" dirty="0"/>
          </a:p>
          <a:p>
            <a:pPr lvl="1"/>
            <a:r>
              <a:rPr lang="en-US" dirty="0"/>
              <a:t>Virus develops in mosquito (~7–10 days) </a:t>
            </a:r>
            <a:endParaRPr lang="en-US" sz="2400" dirty="0"/>
          </a:p>
          <a:p>
            <a:pPr lvl="1"/>
            <a:r>
              <a:rPr lang="en-US" dirty="0"/>
              <a:t>Mosquito infects another human </a:t>
            </a:r>
            <a:endParaRPr lang="en-US" sz="2400" dirty="0"/>
          </a:p>
          <a:p>
            <a:pPr lvl="0"/>
            <a:r>
              <a:rPr lang="en-US" dirty="0"/>
              <a:t>Only </a:t>
            </a:r>
            <a:r>
              <a:rPr lang="en-US" b="1" dirty="0"/>
              <a:t>female mosquitoes bite</a:t>
            </a:r>
            <a:r>
              <a:rPr lang="en-US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483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Human–Mosquito Interaction &amp; Transmission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Critical visual elements</a:t>
            </a:r>
            <a:endParaRPr lang="en-US" dirty="0"/>
          </a:p>
          <a:p>
            <a:pPr lvl="0"/>
            <a:r>
              <a:rPr lang="en-US" dirty="0"/>
              <a:t>Bite → virus uptake → virus in mosquito → next bite </a:t>
            </a:r>
          </a:p>
          <a:p>
            <a:pPr lvl="0"/>
            <a:r>
              <a:rPr lang="en-US" dirty="0"/>
              <a:t>Close-up of </a:t>
            </a:r>
            <a:r>
              <a:rPr lang="en-US" b="1" dirty="0"/>
              <a:t>proboscis feeding</a:t>
            </a:r>
            <a:r>
              <a:rPr lang="en-US" dirty="0"/>
              <a:t> (important for realism) </a:t>
            </a:r>
          </a:p>
          <a:p>
            <a:r>
              <a:rPr lang="en-US" b="1" dirty="0"/>
              <a:t>Messages to communicate</a:t>
            </a:r>
            <a:endParaRPr lang="en-US" dirty="0"/>
          </a:p>
          <a:p>
            <a:pPr lvl="0"/>
            <a:r>
              <a:rPr lang="en-US" dirty="0"/>
              <a:t>“Humans are part of the cycle” </a:t>
            </a:r>
          </a:p>
          <a:p>
            <a:pPr lvl="0"/>
            <a:r>
              <a:rPr lang="en-US" dirty="0"/>
              <a:t>“Protect yourself = protect community” </a:t>
            </a:r>
          </a:p>
          <a:p>
            <a:r>
              <a:rPr lang="en-US" b="1" dirty="0" smtClean="0"/>
              <a:t>⚠ </a:t>
            </a:r>
            <a:r>
              <a:rPr lang="en-US" b="1" dirty="0"/>
              <a:t>Mistakes to avoid</a:t>
            </a:r>
            <a:endParaRPr lang="en-US" dirty="0"/>
          </a:p>
          <a:p>
            <a:pPr lvl="0"/>
            <a:r>
              <a:rPr lang="en-US" dirty="0"/>
              <a:t>❌ Mosquito born infected (usually false) </a:t>
            </a:r>
          </a:p>
          <a:p>
            <a:pPr lvl="0"/>
            <a:r>
              <a:rPr lang="en-US" dirty="0"/>
              <a:t>❌ Immediate transmission after first bite </a:t>
            </a:r>
          </a:p>
          <a:p>
            <a:pPr lvl="0"/>
            <a:r>
              <a:rPr lang="en-US" dirty="0"/>
              <a:t>❌ Exaggerated symptoms during bite </a:t>
            </a:r>
          </a:p>
        </p:txBody>
      </p:sp>
    </p:spTree>
    <p:extLst>
      <p:ext uri="{BB962C8B-B14F-4D97-AF65-F5344CB8AC3E}">
        <p14:creationId xmlns:p14="http://schemas.microsoft.com/office/powerpoint/2010/main" val="274478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Mosquito control</a:t>
            </a:r>
            <a:endParaRPr lang="en-US" dirty="0"/>
          </a:p>
        </p:txBody>
      </p:sp>
      <p:pic>
        <p:nvPicPr>
          <p:cNvPr id="3074" name="Picture 2" descr="Analyzing the Efficacy of Water Treatment Disinfectants as Vector Control:  The Larvicidal Effects of Silver Nitrate, Copper Sulfate Pentahydrate, and  Sodium Hypochlorite on Juvenile Aedes aegypti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739" y="1641786"/>
            <a:ext cx="5466522" cy="4442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34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Mosquito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🔬 Key interventions</a:t>
            </a:r>
          </a:p>
          <a:p>
            <a:r>
              <a:rPr lang="en-US" b="1" dirty="0"/>
              <a:t>Source reduction (MOST IMPORTANT)</a:t>
            </a:r>
          </a:p>
          <a:p>
            <a:pPr lvl="1"/>
            <a:r>
              <a:rPr lang="en-US" dirty="0"/>
              <a:t>Empty containers </a:t>
            </a:r>
          </a:p>
          <a:p>
            <a:pPr lvl="1"/>
            <a:r>
              <a:rPr lang="en-US" dirty="0"/>
              <a:t>Cover water storage </a:t>
            </a:r>
          </a:p>
          <a:p>
            <a:pPr lvl="1"/>
            <a:r>
              <a:rPr lang="en-US" dirty="0"/>
              <a:t>Clean weekly </a:t>
            </a:r>
          </a:p>
          <a:p>
            <a:r>
              <a:rPr lang="en-US" b="1" dirty="0"/>
              <a:t>Larval control</a:t>
            </a:r>
          </a:p>
          <a:p>
            <a:pPr lvl="1"/>
            <a:r>
              <a:rPr lang="en-US" dirty="0"/>
              <a:t>Bti (biological larvicide</a:t>
            </a:r>
            <a:r>
              <a:rPr lang="en-US" dirty="0" smtClean="0"/>
              <a:t>)/Insecticide</a:t>
            </a:r>
          </a:p>
          <a:p>
            <a:pPr lvl="1"/>
            <a:r>
              <a:rPr lang="en-US" dirty="0" smtClean="0"/>
              <a:t>Fish (</a:t>
            </a:r>
            <a:r>
              <a:rPr lang="en-US" dirty="0" err="1" smtClean="0"/>
              <a:t>guppie</a:t>
            </a:r>
            <a:r>
              <a:rPr lang="en-US" dirty="0" smtClean="0"/>
              <a:t>- xxx) </a:t>
            </a:r>
            <a:endParaRPr lang="en-US" dirty="0"/>
          </a:p>
          <a:p>
            <a:r>
              <a:rPr lang="en-US" b="1" dirty="0"/>
              <a:t>Adult control</a:t>
            </a:r>
          </a:p>
          <a:p>
            <a:pPr lvl="1"/>
            <a:r>
              <a:rPr lang="en-US" dirty="0"/>
              <a:t>Space spraying (fogging) → </a:t>
            </a:r>
            <a:r>
              <a:rPr lang="en-US" b="1" dirty="0"/>
              <a:t>limited </a:t>
            </a:r>
            <a:r>
              <a:rPr lang="en-US" b="1" dirty="0" smtClean="0"/>
              <a:t>effect</a:t>
            </a:r>
          </a:p>
          <a:p>
            <a:pPr lvl="1"/>
            <a:r>
              <a:rPr lang="en-US" b="1" dirty="0" err="1" smtClean="0"/>
              <a:t>Wolbachia</a:t>
            </a:r>
            <a:r>
              <a:rPr lang="en-US" b="1" dirty="0" smtClean="0"/>
              <a:t>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09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Mosquito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Critical accuracy points</a:t>
            </a:r>
          </a:p>
          <a:p>
            <a:pPr lvl="1"/>
            <a:r>
              <a:rPr lang="en-US" dirty="0"/>
              <a:t>DO NOT overemphasize fogging </a:t>
            </a:r>
          </a:p>
          <a:p>
            <a:pPr lvl="1"/>
            <a:r>
              <a:rPr lang="en-US" dirty="0"/>
              <a:t>Focus on </a:t>
            </a:r>
            <a:r>
              <a:rPr lang="en-US" b="1" dirty="0"/>
              <a:t>community responsibility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6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standing water</a:t>
            </a:r>
          </a:p>
          <a:p>
            <a:r>
              <a:t>Protect during daytime</a:t>
            </a:r>
          </a:p>
          <a:p>
            <a:r>
              <a:t>Mosquitoes live near you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Correct species</a:t>
            </a:r>
          </a:p>
          <a:p>
            <a:r>
              <a:t>Day-biting behavior</a:t>
            </a:r>
          </a:p>
          <a:p>
            <a:r>
              <a:t>Local context</a:t>
            </a:r>
          </a:p>
          <a:p>
            <a:r>
              <a:t>Realistic life cycle</a:t>
            </a:r>
          </a:p>
          <a:p>
            <a:r>
              <a:t>Clear messages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ttps://www.google.com/search?sca_esv=f7e6af31ea0d095e&amp;hl=en&amp;dcr=0&amp;sxsrf=ANbL-n5uW-Z3CWw62jrXaUkVJLyeOiN-vg:1774852000997&amp;udm=7&amp;fbs=ADc_l-aN0CWEZBOHjofHoaMMDiKpaEWjvZ2Py1XXV8d8KvlI3sbM0Xv-BZKE_VrZb6-djVhOtEikQxVPaqfTMUjZRiWtKCoslmAGmF-50j-Z_XShN7YBAJYdGrM2bb5tisj5TcrLe-qCaC_NeJxSss5zCPpjS20Jvdool_HfeJcqz65IOIEXEq5QWXUgyAFZV8X6VvgcF03shdKku5NvkAPTXoqUU8hnrA&amp;q=aedes+aegypti+/+</a:t>
            </a:r>
            <a:r>
              <a:rPr lang="en-US" dirty="0" smtClean="0"/>
              <a:t>aedes+albopictus&amp;sa=X&amp;ved=2ahUKEwipjbH4_saTAxWv3zQHHVnIIykQtKgLegQIDhAB&amp;biw=1667&amp;bih=884&amp;dpr=1.09#fpstate=ive&amp;ip=1&amp;vld=cid:9ea75e10,vid:qMT7nkXpgno,st:0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834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82975" y="3244334"/>
            <a:ext cx="31780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https://youtu.be/-w6FnteWtHU</a:t>
            </a:r>
          </a:p>
        </p:txBody>
      </p:sp>
    </p:spTree>
    <p:extLst>
      <p:ext uri="{BB962C8B-B14F-4D97-AF65-F5344CB8AC3E}">
        <p14:creationId xmlns:p14="http://schemas.microsoft.com/office/powerpoint/2010/main" val="4054786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</TotalTime>
  <Words>586</Words>
  <Application>Microsoft Office PowerPoint</Application>
  <PresentationFormat>On-screen Show (4:3)</PresentationFormat>
  <Paragraphs>135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Office Theme</vt:lpstr>
      <vt:lpstr>SIMPLE Project – VR Scientific Guidelines</vt:lpstr>
      <vt:lpstr>Objective</vt:lpstr>
      <vt:lpstr>Target Species</vt:lpstr>
      <vt:lpstr>Aedes Life Cycle</vt:lpstr>
      <vt:lpstr>Life cycle</vt:lpstr>
      <vt:lpstr>PowerPoint Presentation</vt:lpstr>
      <vt:lpstr>Larvae &amp; pupae</vt:lpstr>
      <vt:lpstr>PowerPoint Presentation</vt:lpstr>
      <vt:lpstr>PowerPoint Presentation</vt:lpstr>
      <vt:lpstr>Aedes Life Cycle</vt:lpstr>
      <vt:lpstr>Adult Behavior</vt:lpstr>
      <vt:lpstr>Adult Behavior</vt:lpstr>
      <vt:lpstr>Aedes Breeding Sites (Laos)</vt:lpstr>
      <vt:lpstr>PowerPoint Presentation</vt:lpstr>
      <vt:lpstr>PowerPoint Presentation</vt:lpstr>
      <vt:lpstr>Breeding sites</vt:lpstr>
      <vt:lpstr>Human–Mosquito Interaction &amp; Transmission</vt:lpstr>
      <vt:lpstr>PowerPoint Presentation</vt:lpstr>
      <vt:lpstr>PowerPoint Presentation</vt:lpstr>
      <vt:lpstr>Human–Mosquito Interaction &amp; Transmission</vt:lpstr>
      <vt:lpstr>Human–Mosquito Interaction &amp; Transmission</vt:lpstr>
      <vt:lpstr>Mosquito control</vt:lpstr>
      <vt:lpstr>Mosquito control</vt:lpstr>
      <vt:lpstr>Mosquito control</vt:lpstr>
      <vt:lpstr>Core Messages</vt:lpstr>
      <vt:lpstr>Validation Checklist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Project – VR Scientific Guidelines</dc:title>
  <dc:subject/>
  <dc:creator/>
  <cp:keywords/>
  <dc:description>generated using python-pptx</dc:description>
  <cp:lastModifiedBy>Sebastien Marcombe</cp:lastModifiedBy>
  <cp:revision>11</cp:revision>
  <dcterms:created xsi:type="dcterms:W3CDTF">2013-01-27T09:14:16Z</dcterms:created>
  <dcterms:modified xsi:type="dcterms:W3CDTF">2026-03-30T08:19:04Z</dcterms:modified>
  <cp:category/>
</cp:coreProperties>
</file>